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5603200" cy="3657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0" d="100"/>
          <a:sy n="40" d="100"/>
        </p:scale>
        <p:origin x="60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F7883AED-4D29-4DF1-8926-7142FA058334}"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279440" y="1465200"/>
            <a:ext cx="23044320" cy="6096240"/>
          </a:xfrm>
          <a:prstGeom prst="rect">
            <a:avLst/>
          </a:prstGeom>
          <a:noFill/>
          <a:ln w="0">
            <a:noFill/>
          </a:ln>
        </p:spPr>
        <p:txBody>
          <a:bodyPr lIns="355320" tIns="177480" rIns="355320" bIns="177480" anchor="ctr">
            <a:noAutofit/>
          </a:bodyPr>
          <a:lstStyle/>
          <a:p>
            <a:pPr indent="0" algn="ctr">
              <a:buNone/>
              <a:tabLst>
                <a:tab pos="0" algn="l"/>
                <a:tab pos="3552840" algn="l"/>
                <a:tab pos="7105680" algn="l"/>
                <a:tab pos="10658520" algn="l"/>
              </a:tabLst>
            </a:pPr>
            <a:r>
              <a:rPr lang="en-US" sz="17100" b="0" strike="noStrike" spc="-1">
                <a:solidFill>
                  <a:srgbClr val="000000"/>
                </a:solidFill>
                <a:latin typeface="Arial"/>
              </a:rPr>
              <a:t>Click to edit the title text format</a:t>
            </a:r>
          </a:p>
        </p:txBody>
      </p:sp>
      <p:sp>
        <p:nvSpPr>
          <p:cNvPr id="6" name="PlaceHolder 2"/>
          <p:cNvSpPr>
            <a:spLocks noGrp="1"/>
          </p:cNvSpPr>
          <p:nvPr>
            <p:ph type="body"/>
          </p:nvPr>
        </p:nvSpPr>
        <p:spPr>
          <a:xfrm>
            <a:off x="1279440" y="8534160"/>
            <a:ext cx="23044320" cy="24137640"/>
          </a:xfrm>
          <a:prstGeom prst="rect">
            <a:avLst/>
          </a:prstGeom>
          <a:noFill/>
          <a:ln w="0">
            <a:noFill/>
          </a:ln>
        </p:spPr>
        <p:txBody>
          <a:bodyPr lIns="355320" tIns="177480" rIns="355320" bIns="177480" anchor="t">
            <a:normAutofit/>
          </a:bodyPr>
          <a:lstStyle/>
          <a:p>
            <a:pPr marL="1332000" indent="-133200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Click to edit the outline text format</a:t>
            </a:r>
          </a:p>
          <a:p>
            <a:pPr marL="2887560" lvl="1" indent="-111132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Second Outline Level</a:t>
            </a:r>
          </a:p>
          <a:p>
            <a:pPr marL="4441680" lvl="2" indent="-88884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Third Outline Level</a:t>
            </a:r>
          </a:p>
          <a:p>
            <a:pPr marL="6218280" lvl="3" indent="-88920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Fourth Outline Level</a:t>
            </a:r>
          </a:p>
          <a:p>
            <a:pPr marL="7994520" lvl="4" indent="-88884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Fifth Outline Level</a:t>
            </a:r>
          </a:p>
          <a:p>
            <a:pPr marL="7994520" lvl="5" indent="-88884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Sixth Outline Level</a:t>
            </a:r>
          </a:p>
          <a:p>
            <a:pPr marL="7994520" lvl="6" indent="-888840">
              <a:spcBef>
                <a:spcPts val="3101"/>
              </a:spcBef>
              <a:buClr>
                <a:srgbClr val="000000"/>
              </a:buClr>
              <a:buFont typeface="Arial"/>
              <a:buChar char="»"/>
              <a:tabLst>
                <a:tab pos="3552840" algn="l"/>
                <a:tab pos="7105680" algn="l"/>
                <a:tab pos="10658520" algn="l"/>
              </a:tabLst>
            </a:pPr>
            <a:r>
              <a:rPr lang="en-US" sz="12400" b="0" strike="noStrike" spc="-1">
                <a:solidFill>
                  <a:srgbClr val="000000"/>
                </a:solidFill>
                <a:latin typeface="Arial"/>
              </a:rPr>
              <a:t>Seventh Outline Level</a:t>
            </a:r>
          </a:p>
        </p:txBody>
      </p:sp>
      <p:sp>
        <p:nvSpPr>
          <p:cNvPr id="2" name="PlaceHolder 3"/>
          <p:cNvSpPr>
            <a:spLocks noGrp="1"/>
          </p:cNvSpPr>
          <p:nvPr>
            <p:ph type="dt" idx="1"/>
          </p:nvPr>
        </p:nvSpPr>
        <p:spPr>
          <a:xfrm>
            <a:off x="1279440" y="33307200"/>
            <a:ext cx="5975280" cy="2540160"/>
          </a:xfrm>
          <a:prstGeom prst="rect">
            <a:avLst/>
          </a:prstGeom>
          <a:noFill/>
          <a:ln w="0">
            <a:noFill/>
          </a:ln>
        </p:spPr>
        <p:txBody>
          <a:bodyPr lIns="355320" tIns="177480" rIns="355320" bIns="177480" anchor="t">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7000" b="0" strike="noStrike" spc="-1">
              <a:solidFill>
                <a:srgbClr val="000000"/>
              </a:solidFill>
              <a:latin typeface="Arial"/>
            </a:endParaRPr>
          </a:p>
        </p:txBody>
      </p:sp>
      <p:sp>
        <p:nvSpPr>
          <p:cNvPr id="3" name="PlaceHolder 4"/>
          <p:cNvSpPr>
            <a:spLocks noGrp="1"/>
          </p:cNvSpPr>
          <p:nvPr>
            <p:ph type="ftr" idx="2"/>
          </p:nvPr>
        </p:nvSpPr>
        <p:spPr>
          <a:xfrm>
            <a:off x="8747280" y="33307200"/>
            <a:ext cx="8108640" cy="2540160"/>
          </a:xfrm>
          <a:prstGeom prst="rect">
            <a:avLst/>
          </a:prstGeom>
          <a:noFill/>
          <a:ln w="0">
            <a:noFill/>
          </a:ln>
        </p:spPr>
        <p:txBody>
          <a:bodyPr lIns="355320" tIns="177480" rIns="355320" bIns="177480" anchor="t">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7000" b="0" strike="noStrike" spc="-1">
              <a:solidFill>
                <a:srgbClr val="000000"/>
              </a:solidFill>
              <a:latin typeface="Arial"/>
            </a:endParaRPr>
          </a:p>
        </p:txBody>
      </p:sp>
      <p:sp>
        <p:nvSpPr>
          <p:cNvPr id="4" name="PlaceHolder 5"/>
          <p:cNvSpPr>
            <a:spLocks noGrp="1"/>
          </p:cNvSpPr>
          <p:nvPr>
            <p:ph type="sldNum" idx="3"/>
          </p:nvPr>
        </p:nvSpPr>
        <p:spPr>
          <a:xfrm>
            <a:off x="18348480" y="33307200"/>
            <a:ext cx="5975280" cy="2540160"/>
          </a:xfrm>
          <a:prstGeom prst="rect">
            <a:avLst/>
          </a:prstGeom>
          <a:noFill/>
          <a:ln w="0">
            <a:noFill/>
          </a:ln>
        </p:spPr>
        <p:txBody>
          <a:bodyPr lIns="355320" tIns="177480" rIns="355320" bIns="17748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5400" b="0" strike="noStrike" spc="-1">
                <a:solidFill>
                  <a:srgbClr val="000000"/>
                </a:solidFill>
                <a:latin typeface="Arial"/>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927D646-2753-4A8F-8909-CBEB0517D465}" type="slidenum">
              <a:rPr lang="en-US" sz="5400" b="0" strike="noStrike" spc="-1">
                <a:solidFill>
                  <a:srgbClr val="000000"/>
                </a:solidFill>
                <a:latin typeface="Arial"/>
              </a:rPr>
              <a:t>‹#›</a:t>
            </a:fld>
            <a:endParaRPr lang="en-US" sz="54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a:spLocks noGrp="1"/>
          </p:cNvSpPr>
          <p:nvPr>
            <p:ph type="title"/>
          </p:nvPr>
        </p:nvSpPr>
        <p:spPr>
          <a:xfrm>
            <a:off x="1371600" y="870120"/>
            <a:ext cx="22906080" cy="2666880"/>
          </a:xfrm>
          <a:prstGeom prst="rect">
            <a:avLst/>
          </a:prstGeom>
          <a:noFill/>
          <a:ln w="0">
            <a:noFill/>
          </a:ln>
        </p:spPr>
        <p:txBody>
          <a:bodyPr lIns="355320" tIns="177480" rIns="355320" bIns="177480" anchor="ctr">
            <a:noAutofit/>
          </a:bodyPr>
          <a:lstStyle/>
          <a:p>
            <a:pPr indent="0" algn="ctr">
              <a:buNone/>
              <a:tabLst>
                <a:tab pos="0" algn="l"/>
                <a:tab pos="3552840" algn="l"/>
                <a:tab pos="7105680" algn="l"/>
                <a:tab pos="10658520" algn="l"/>
              </a:tabLst>
            </a:pPr>
            <a:r>
              <a:rPr lang="en-US" sz="8000" b="1" strike="noStrike" spc="-1">
                <a:solidFill>
                  <a:srgbClr val="000000"/>
                </a:solidFill>
                <a:latin typeface="Arial"/>
              </a:rPr>
              <a:t>Autonomous Maze Escape Robot</a:t>
            </a:r>
            <a:endParaRPr lang="en-US" sz="8000" b="0" strike="noStrike" spc="-1">
              <a:solidFill>
                <a:srgbClr val="000000"/>
              </a:solidFill>
              <a:latin typeface="Arial"/>
            </a:endParaRPr>
          </a:p>
        </p:txBody>
      </p:sp>
      <p:sp>
        <p:nvSpPr>
          <p:cNvPr id="30" name="Text Box Introduction"/>
          <p:cNvSpPr/>
          <p:nvPr/>
        </p:nvSpPr>
        <p:spPr>
          <a:xfrm>
            <a:off x="1444680" y="6734280"/>
            <a:ext cx="11061720" cy="6565720"/>
          </a:xfrm>
          <a:prstGeom prst="rect">
            <a:avLst/>
          </a:prstGeom>
          <a:solidFill>
            <a:srgbClr val="FFFFFF"/>
          </a:solidFill>
          <a:ln w="12600">
            <a:solidFill>
              <a:srgbClr val="222268"/>
            </a:solidFill>
            <a:miter/>
          </a:ln>
        </p:spPr>
        <p:style>
          <a:lnRef idx="0">
            <a:scrgbClr r="0" g="0" b="0"/>
          </a:lnRef>
          <a:fillRef idx="0">
            <a:scrgbClr r="0" g="0" b="0"/>
          </a:fillRef>
          <a:effectRef idx="0">
            <a:scrgbClr r="0" g="0" b="0"/>
          </a:effectRef>
          <a:fontRef idx="minor"/>
        </p:style>
        <p:txBody>
          <a:bodyPr lIns="914400" tIns="457200" rIns="914400" bIns="914400" anchor="t">
            <a:noAutofit/>
          </a:bodyPr>
          <a:lstStyle/>
          <a:p>
            <a:pPr algn="just">
              <a:spcBef>
                <a:spcPts val="1500"/>
              </a:spcBef>
            </a:pPr>
            <a:r>
              <a:rPr lang="en-US" sz="4400" b="1" strike="noStrike" spc="-1" dirty="0">
                <a:solidFill>
                  <a:srgbClr val="000000"/>
                </a:solidFill>
                <a:latin typeface="Arial"/>
              </a:rPr>
              <a:t>Introduction</a:t>
            </a:r>
          </a:p>
          <a:p>
            <a:pPr algn="just">
              <a:lnSpc>
                <a:spcPct val="100000"/>
              </a:lnSpc>
              <a:spcBef>
                <a:spcPts val="300"/>
              </a:spcBef>
            </a:pPr>
            <a:r>
              <a:rPr lang="en-US" sz="2400" spc="-1" dirty="0">
                <a:solidFill>
                  <a:srgbClr val="000000"/>
                </a:solidFill>
                <a:latin typeface="Times New Roman"/>
              </a:rPr>
              <a:t>Engineering relies heavily on autonomous mobile robots, which are used in intelligent transportation, logistics, and industrial automation. This project describes the design and development of an autonomous escape robot using the PIC16F877A microcontroller running at 8 </a:t>
            </a:r>
            <a:r>
              <a:rPr lang="en-US" sz="2400" spc="-1" dirty="0" err="1">
                <a:solidFill>
                  <a:srgbClr val="000000"/>
                </a:solidFill>
                <a:latin typeface="Times New Roman"/>
              </a:rPr>
              <a:t>MHz.</a:t>
            </a:r>
            <a:r>
              <a:rPr lang="en-US" sz="2400" spc="-1" dirty="0">
                <a:solidFill>
                  <a:srgbClr val="000000"/>
                </a:solidFill>
                <a:latin typeface="Times New Roman"/>
              </a:rPr>
              <a:t> The robot completes a four-stage task autonomously: following a defined line, detecting and crossing a dark tunnel, navigating an ultrasonic-guided maze, and arriving at a predetermined finish line. The system offers reliable real-time navigation without the need for human interaction by merging numerous sensor modalities and a state-machine driven software architecture. The combination of sensor fusion, modular software architecture, and PWM motor illustrates how complicated autonomous behavior may be implemented using low-cost embedded technology.</a:t>
            </a:r>
          </a:p>
        </p:txBody>
      </p:sp>
      <p:sp>
        <p:nvSpPr>
          <p:cNvPr id="7" name="Text Box 8"/>
          <p:cNvSpPr/>
          <p:nvPr/>
        </p:nvSpPr>
        <p:spPr>
          <a:xfrm>
            <a:off x="1444680" y="13741560"/>
            <a:ext cx="11061720" cy="17270280"/>
          </a:xfrm>
          <a:prstGeom prst="rect">
            <a:avLst/>
          </a:prstGeom>
          <a:solidFill>
            <a:srgbClr val="FFFFFF"/>
          </a:solidFill>
          <a:ln w="12600">
            <a:solidFill>
              <a:srgbClr val="222268"/>
            </a:solidFill>
            <a:miter/>
          </a:ln>
        </p:spPr>
        <p:style>
          <a:lnRef idx="0">
            <a:scrgbClr r="0" g="0" b="0"/>
          </a:lnRef>
          <a:fillRef idx="0">
            <a:scrgbClr r="0" g="0" b="0"/>
          </a:fillRef>
          <a:effectRef idx="0">
            <a:scrgbClr r="0" g="0" b="0"/>
          </a:effectRef>
          <a:fontRef idx="minor"/>
        </p:style>
        <p:txBody>
          <a:bodyPr lIns="914400" tIns="457200" rIns="914400" bIns="914400" anchor="t">
            <a:noAutofit/>
          </a:bodyPr>
          <a:lstStyle/>
          <a:p>
            <a:pPr algn="just">
              <a:spcBef>
                <a:spcPts val="15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strike="noStrike" spc="-1" dirty="0">
                <a:solidFill>
                  <a:srgbClr val="000000"/>
                </a:solidFill>
                <a:latin typeface="Arial"/>
              </a:rPr>
              <a:t>Design</a:t>
            </a:r>
            <a:r>
              <a:rPr lang="en-US" sz="2400" b="0" strike="noStrike" spc="-1" dirty="0">
                <a:solidFill>
                  <a:srgbClr val="FF8000"/>
                </a:solidFill>
                <a:latin typeface="Arial"/>
              </a:rPr>
              <a:t>	</a:t>
            </a: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spc="-1" dirty="0">
                <a:solidFill>
                  <a:srgbClr val="000000"/>
                </a:solidFill>
                <a:latin typeface="Times New Roman"/>
              </a:rPr>
              <a:t>The robot is based on a two-wheeled DC motor chassis powered by a motor driver, with speed regulated by PWM signals from the PIC16F877A hardware  module. The sensor suite consists of two IR line sensors for line tracking and finish detection, one LDR module for tunnel light-level sensing, and three HC-SR04 ultrasonic sensors located at the front, left, and right for wall detection during labyrinth navigation. An active buzzer offers audible feedback within the tunnel. The program is designed as a four-state machine. Stage 1 employs IR sensors to navigate along the indicated line; Stage 2 triggers when the LDR detects darkness, triggering the buzzer and moving through the tunnel; Stage 3 uses ultrasonic-based maze navigation; and Stage 4 detects prolonged black on both IR sensors and stops the robot at the finish line.</a:t>
            </a: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000000"/>
                </a:solidFill>
                <a:latin typeface="Times New Roman"/>
              </a:rPr>
              <a:t>	</a:t>
            </a: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dirty="0">
                <a:solidFill>
                  <a:srgbClr val="000000"/>
                </a:solidFill>
                <a:latin typeface="Times New Roman"/>
              </a:rPr>
              <a:t>Figure 1: Hardware Design — Robot Chassis, Sensor Placement, and Wiring.</a:t>
            </a:r>
          </a:p>
          <a:p>
            <a:pPr algn="ct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Times New Roman"/>
            </a:endParaRPr>
          </a:p>
          <a:p>
            <a:pP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dirty="0">
                <a:solidFill>
                  <a:srgbClr val="000000"/>
                </a:solidFill>
                <a:latin typeface="Times New Roman"/>
              </a:rPr>
              <a:t>Figure 2: Software State Machine — Four-Stage Navigation Flowchart.	</a:t>
            </a: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000000"/>
                </a:solidFill>
                <a:latin typeface="Times New Roman"/>
              </a:rPr>
              <a:t>	</a:t>
            </a: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796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000000"/>
                </a:solidFill>
                <a:latin typeface="Times New Roman"/>
              </a:rPr>
              <a:t>	</a:t>
            </a:r>
            <a:endParaRPr lang="en-US" sz="2400" b="0" strike="noStrike" spc="-1" dirty="0">
              <a:solidFill>
                <a:srgbClr val="000000"/>
              </a:solidFill>
              <a:latin typeface="Arial"/>
            </a:endParaRPr>
          </a:p>
        </p:txBody>
      </p:sp>
      <p:sp>
        <p:nvSpPr>
          <p:cNvPr id="8" name="Text Box 9"/>
          <p:cNvSpPr/>
          <p:nvPr/>
        </p:nvSpPr>
        <p:spPr>
          <a:xfrm>
            <a:off x="13781160" y="6997680"/>
            <a:ext cx="10512360" cy="24007680"/>
          </a:xfrm>
          <a:prstGeom prst="rect">
            <a:avLst/>
          </a:prstGeom>
          <a:solidFill>
            <a:srgbClr val="FFFFFF"/>
          </a:solidFill>
          <a:ln w="12600">
            <a:solidFill>
              <a:srgbClr val="222268"/>
            </a:solidFill>
            <a:miter/>
          </a:ln>
        </p:spPr>
        <p:style>
          <a:lnRef idx="0">
            <a:scrgbClr r="0" g="0" b="0"/>
          </a:lnRef>
          <a:fillRef idx="0">
            <a:scrgbClr r="0" g="0" b="0"/>
          </a:fillRef>
          <a:effectRef idx="0">
            <a:scrgbClr r="0" g="0" b="0"/>
          </a:effectRef>
          <a:fontRef idx="minor"/>
        </p:style>
        <p:txBody>
          <a:bodyPr lIns="914400" tIns="457200" rIns="914400" bIns="914400" anchor="t">
            <a:noAutofit/>
          </a:bodyPr>
          <a:lstStyle/>
          <a:p>
            <a:pPr algn="just">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strike="noStrike" spc="-1" dirty="0">
                <a:solidFill>
                  <a:srgbClr val="000000"/>
                </a:solidFill>
                <a:latin typeface="Arial"/>
              </a:rPr>
              <a:t>Results</a:t>
            </a:r>
            <a:endParaRPr lang="en-US" sz="4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spc="-1" dirty="0">
                <a:solidFill>
                  <a:srgbClr val="000000"/>
                </a:solidFill>
              </a:rPr>
              <a:t>The autonomous maze escape robot accomplished all four difficulty stages without human assistance. The IR-based line-following algorithm maintained consistent tracking throughout Stage 1. The LDR tunnel detection system correctly recognized tunnel entrance and exit utilizing hysteresis thresholds (enter: ADC &gt; 850, exit: ADC &lt; 400), triggering the buzzer within the tunnel. The robot was steered through maze corridors by the three-sensor ultrasonic maze navigation system, which used priority-based wall avoidance. The finish line detection system, which is protected by a 50-loop grace period and a sustained 10-count black detection threshold, prevents false triggers and consistently stops the robot at the endpoint.</a:t>
            </a: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dirty="0">
                <a:solidFill>
                  <a:srgbClr val="000000"/>
                </a:solidFill>
                <a:latin typeface="Times New Roman"/>
              </a:rPr>
              <a:t>Figure 3: Robot </a:t>
            </a:r>
            <a:r>
              <a:rPr lang="en-US" sz="2400" b="1" spc="-1" dirty="0">
                <a:solidFill>
                  <a:srgbClr val="000000"/>
                </a:solidFill>
                <a:latin typeface="Times New Roman"/>
              </a:rPr>
              <a:t>front view</a:t>
            </a: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dirty="0">
              <a:solidFill>
                <a:srgbClr val="000000"/>
              </a:solidFill>
              <a:latin typeface="Times New Roman"/>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pc="-1" dirty="0">
              <a:solidFill>
                <a:srgbClr val="000000"/>
              </a:solidFill>
              <a:latin typeface="Times New Roman"/>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1" strike="noStrike" spc="-1" dirty="0">
              <a:solidFill>
                <a:srgbClr val="000000"/>
              </a:solidFill>
              <a:latin typeface="Times New Roman"/>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dirty="0">
                <a:solidFill>
                  <a:srgbClr val="000000"/>
                </a:solidFill>
                <a:latin typeface="Times New Roman"/>
              </a:rPr>
              <a:t>Figure 4: Robot side</a:t>
            </a:r>
            <a:r>
              <a:rPr lang="en-US" sz="2400" b="1" spc="-1" dirty="0">
                <a:solidFill>
                  <a:srgbClr val="000000"/>
                </a:solidFill>
                <a:latin typeface="Times New Roman"/>
              </a:rPr>
              <a:t> view</a:t>
            </a: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000000"/>
                </a:solidFill>
                <a:latin typeface="Times New Roman"/>
              </a:rPr>
              <a:t>	</a:t>
            </a: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nSpc>
                <a:spcPct val="100000"/>
              </a:lnSpc>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Arial"/>
            </a:endParaRPr>
          </a:p>
          <a:p>
            <a:pPr algn="ctr">
              <a:lnSpc>
                <a:spcPct val="100000"/>
              </a:lnSpc>
              <a:spcBef>
                <a:spcPts val="876"/>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000" b="0" strike="noStrike" spc="-1" dirty="0">
                <a:solidFill>
                  <a:srgbClr val="000000"/>
                </a:solidFill>
                <a:latin typeface="Arial"/>
              </a:rPr>
              <a:t> </a:t>
            </a:r>
          </a:p>
          <a:p>
            <a:pPr algn="just">
              <a:lnSpc>
                <a:spcPct val="100000"/>
              </a:lnSpc>
              <a:spcBef>
                <a:spcPts val="300"/>
              </a:spcBef>
              <a:tabLst>
                <a:tab pos="0" algn="l"/>
                <a:tab pos="500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000000"/>
                </a:solidFill>
                <a:latin typeface="Times New Roman"/>
              </a:rPr>
              <a:t>	</a:t>
            </a:r>
            <a:endParaRPr lang="en-US" sz="2400" b="0" strike="noStrike" spc="-1" dirty="0">
              <a:solidFill>
                <a:srgbClr val="000000"/>
              </a:solidFill>
              <a:latin typeface="Arial"/>
            </a:endParaRPr>
          </a:p>
        </p:txBody>
      </p:sp>
      <p:sp>
        <p:nvSpPr>
          <p:cNvPr id="9" name="Text Box 10"/>
          <p:cNvSpPr/>
          <p:nvPr/>
        </p:nvSpPr>
        <p:spPr>
          <a:xfrm>
            <a:off x="1446120" y="31832640"/>
            <a:ext cx="22901400" cy="3943440"/>
          </a:xfrm>
          <a:prstGeom prst="rect">
            <a:avLst/>
          </a:prstGeom>
          <a:solidFill>
            <a:srgbClr val="FFFFFF"/>
          </a:solidFill>
          <a:ln w="12600">
            <a:solidFill>
              <a:srgbClr val="222268"/>
            </a:solidFill>
            <a:miter/>
          </a:ln>
        </p:spPr>
        <p:style>
          <a:lnRef idx="0">
            <a:scrgbClr r="0" g="0" b="0"/>
          </a:lnRef>
          <a:fillRef idx="0">
            <a:scrgbClr r="0" g="0" b="0"/>
          </a:fillRef>
          <a:effectRef idx="0">
            <a:scrgbClr r="0" g="0" b="0"/>
          </a:effectRef>
          <a:fontRef idx="minor"/>
        </p:style>
        <p:txBody>
          <a:bodyPr lIns="914400" tIns="457200" rIns="914400" bIns="914400" anchor="t">
            <a:noAutofit/>
          </a:bodyPr>
          <a:lstStyle/>
          <a:p>
            <a:pPr>
              <a:spcBef>
                <a:spcPts val="2750"/>
              </a:spcBef>
              <a:tabLst>
                <a:tab pos="0" algn="l"/>
                <a:tab pos="635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1" strike="noStrike" spc="-1" dirty="0">
                <a:solidFill>
                  <a:srgbClr val="000000"/>
                </a:solidFill>
                <a:latin typeface="Arial"/>
              </a:rPr>
              <a:t>Conclusion</a:t>
            </a:r>
            <a:endParaRPr lang="en-US" sz="4400" b="0" strike="noStrike" spc="-1" dirty="0">
              <a:solidFill>
                <a:srgbClr val="000000"/>
              </a:solidFill>
              <a:latin typeface="Arial"/>
            </a:endParaRPr>
          </a:p>
          <a:p>
            <a:pPr>
              <a:lnSpc>
                <a:spcPct val="100000"/>
              </a:lnSpc>
              <a:spcBef>
                <a:spcPts val="300"/>
              </a:spcBef>
              <a:tabLst>
                <a:tab pos="0" algn="l"/>
                <a:tab pos="635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dirty="0">
                <a:solidFill>
                  <a:srgbClr val="000000"/>
                </a:solidFill>
                <a:latin typeface="Times New Roman"/>
              </a:rPr>
              <a:t>	</a:t>
            </a:r>
            <a:r>
              <a:rPr lang="en-US" sz="2400" spc="-1" dirty="0">
                <a:solidFill>
                  <a:srgbClr val="000000"/>
                </a:solidFill>
                <a:latin typeface="Times New Roman"/>
              </a:rPr>
              <a:t>This study illustrates how a small, low-cost autonomous robot can consistently navigate a complicated multi-stage environment using excellent sensor and modular embedded software design. By combining IR sensors, an LDR module, and three HC-SR04 ultrasonic sensors under the control of a PIC16F877The robot, powered by a microprocessor, successfully completed line following, tunnel identification, maze navigation, and finish line recognition without the need for human involvement.</a:t>
            </a:r>
          </a:p>
          <a:p>
            <a:pPr>
              <a:lnSpc>
                <a:spcPct val="100000"/>
              </a:lnSpc>
              <a:spcBef>
                <a:spcPts val="300"/>
              </a:spcBef>
              <a:tabLst>
                <a:tab pos="0" algn="l"/>
                <a:tab pos="63504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spc="-1" dirty="0">
              <a:solidFill>
                <a:srgbClr val="000000"/>
              </a:solidFill>
              <a:latin typeface="Times New Roman"/>
            </a:endParaRPr>
          </a:p>
          <a:p>
            <a:pPr>
              <a:lnSpc>
                <a:spcPct val="100000"/>
              </a:lnSpc>
              <a:spcBef>
                <a:spcPts val="300"/>
              </a:spcBef>
              <a:tabLst>
                <a:tab pos="0" algn="l"/>
                <a:tab pos="63504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spc="-1" dirty="0">
                <a:solidFill>
                  <a:srgbClr val="000000"/>
                </a:solidFill>
                <a:latin typeface="Times New Roman"/>
              </a:rPr>
              <a:t>The findings support the efficacy of state-machine control, PWM motor speed regulation, and Timer1-based ultrasonic timing for real-time autonomous navigation. The value of this study resides in demonstrating that strong multi-stage autonomous behavior may be obtained with little, easily available hardware. These techniques are immediately applicable to real-world systems like autonomous inspection robots, warehouse navigation vehicles, and competitive robotics platforms.</a:t>
            </a:r>
          </a:p>
        </p:txBody>
      </p:sp>
      <p:sp>
        <p:nvSpPr>
          <p:cNvPr id="14" name="Rectangle 19"/>
          <p:cNvSpPr/>
          <p:nvPr/>
        </p:nvSpPr>
        <p:spPr>
          <a:xfrm>
            <a:off x="3119400" y="4230720"/>
            <a:ext cx="20756520" cy="2255760"/>
          </a:xfrm>
          <a:prstGeom prst="rect">
            <a:avLst/>
          </a:prstGeom>
          <a:noFill/>
          <a:ln w="0">
            <a:noFill/>
          </a:ln>
        </p:spPr>
        <p:style>
          <a:lnRef idx="0">
            <a:scrgbClr r="0" g="0" b="0"/>
          </a:lnRef>
          <a:fillRef idx="0">
            <a:scrgbClr r="0" g="0" b="0"/>
          </a:fillRef>
          <a:effectRef idx="0">
            <a:scrgbClr r="0" g="0" b="0"/>
          </a:effectRef>
          <a:fontRef idx="minor"/>
        </p:style>
        <p:txBody>
          <a:bodyPr lIns="355320" tIns="177480" rIns="355320" bIns="177480" anchor="ctr">
            <a:noAutofit/>
          </a:bodyPr>
          <a:lstStyle/>
          <a:p>
            <a:pPr algn="ctr">
              <a:tabLst>
                <a:tab pos="0" algn="l"/>
                <a:tab pos="3552840" algn="l"/>
                <a:tab pos="7105680" algn="l"/>
                <a:tab pos="10658520" algn="l"/>
              </a:tabLst>
            </a:pPr>
            <a:r>
              <a:rPr lang="en-US" sz="4000" b="1" strike="noStrike" spc="-1" dirty="0">
                <a:solidFill>
                  <a:srgbClr val="000000"/>
                </a:solidFill>
                <a:latin typeface="Arial"/>
              </a:rPr>
              <a:t>O. Darweesh, M. </a:t>
            </a:r>
            <a:r>
              <a:rPr lang="en-US" sz="4000" b="1" strike="noStrike" spc="-1" dirty="0" err="1">
                <a:solidFill>
                  <a:srgbClr val="000000"/>
                </a:solidFill>
                <a:latin typeface="Arial"/>
              </a:rPr>
              <a:t>Alhawari</a:t>
            </a:r>
            <a:r>
              <a:rPr lang="en-US" sz="4000" b="1" strike="noStrike" spc="-1" dirty="0">
                <a:solidFill>
                  <a:srgbClr val="000000"/>
                </a:solidFill>
                <a:latin typeface="Arial"/>
              </a:rPr>
              <a:t>, and W. Abu </a:t>
            </a:r>
            <a:r>
              <a:rPr lang="en-US" sz="4000" b="1" strike="noStrike" spc="-1" dirty="0" err="1">
                <a:solidFill>
                  <a:srgbClr val="000000"/>
                </a:solidFill>
                <a:latin typeface="Arial"/>
              </a:rPr>
              <a:t>Namous</a:t>
            </a:r>
            <a:endParaRPr lang="en-US" sz="4000" b="0" strike="noStrike" spc="-1" dirty="0">
              <a:solidFill>
                <a:srgbClr val="000000"/>
              </a:solidFill>
              <a:latin typeface="Arial"/>
            </a:endParaRPr>
          </a:p>
          <a:p>
            <a:pPr algn="ctr">
              <a:tabLst>
                <a:tab pos="0" algn="l"/>
                <a:tab pos="3552840" algn="l"/>
                <a:tab pos="7105680" algn="l"/>
                <a:tab pos="10658520" algn="l"/>
              </a:tabLst>
            </a:pPr>
            <a:r>
              <a:rPr lang="en-US" sz="4000" b="1" strike="noStrike" spc="-1" dirty="0">
                <a:solidFill>
                  <a:srgbClr val="000000"/>
                </a:solidFill>
                <a:latin typeface="Arial"/>
              </a:rPr>
              <a:t>Supervisor: Dr. </a:t>
            </a:r>
            <a:r>
              <a:rPr lang="en-US" sz="4000" b="1" strike="noStrike" spc="-1" dirty="0" err="1">
                <a:solidFill>
                  <a:srgbClr val="000000"/>
                </a:solidFill>
                <a:latin typeface="Arial"/>
              </a:rPr>
              <a:t>Belal</a:t>
            </a:r>
            <a:r>
              <a:rPr lang="en-US" sz="4000" b="1" strike="noStrike" spc="-1" dirty="0">
                <a:solidFill>
                  <a:srgbClr val="000000"/>
                </a:solidFill>
                <a:latin typeface="Arial"/>
              </a:rPr>
              <a:t> </a:t>
            </a:r>
            <a:r>
              <a:rPr lang="en-US" sz="4000" b="1" strike="noStrike" spc="-1" dirty="0" err="1">
                <a:solidFill>
                  <a:srgbClr val="000000"/>
                </a:solidFill>
                <a:latin typeface="Arial"/>
              </a:rPr>
              <a:t>Sababha</a:t>
            </a:r>
            <a:br>
              <a:rPr sz="4000" dirty="0"/>
            </a:br>
            <a:r>
              <a:rPr lang="en-US" sz="4000" b="1" strike="noStrike" spc="-1" dirty="0">
                <a:solidFill>
                  <a:srgbClr val="000000"/>
                </a:solidFill>
                <a:latin typeface="Arial"/>
              </a:rPr>
              <a:t>Embedded Systems Final Design Project, Spring 2026 </a:t>
            </a:r>
            <a:br>
              <a:rPr sz="4000" dirty="0"/>
            </a:br>
            <a:r>
              <a:rPr lang="en-US" sz="4000" b="1" strike="noStrike" spc="-1" dirty="0">
                <a:solidFill>
                  <a:srgbClr val="000000"/>
                </a:solidFill>
                <a:latin typeface="Arial"/>
              </a:rPr>
              <a:t>King Abdullah II School of Engineering</a:t>
            </a:r>
            <a:endParaRPr lang="en-US" sz="4000" b="0" strike="noStrike" spc="-1" dirty="0">
              <a:solidFill>
                <a:srgbClr val="000000"/>
              </a:solidFill>
              <a:latin typeface="Arial"/>
            </a:endParaRPr>
          </a:p>
          <a:p>
            <a:pPr algn="ctr">
              <a:tabLst>
                <a:tab pos="0" algn="l"/>
                <a:tab pos="3552840" algn="l"/>
                <a:tab pos="7105680" algn="l"/>
                <a:tab pos="10658520" algn="l"/>
              </a:tabLst>
            </a:pPr>
            <a:r>
              <a:rPr lang="en-US" sz="4000" b="1" strike="noStrike" spc="-1" dirty="0">
                <a:solidFill>
                  <a:srgbClr val="000000"/>
                </a:solidFill>
                <a:latin typeface="Arial"/>
              </a:rPr>
              <a:t>Princess Sumaya University for Technology</a:t>
            </a:r>
            <a:br>
              <a:rPr sz="4000" dirty="0"/>
            </a:br>
            <a:endParaRPr lang="en-US" sz="4000" b="0" strike="noStrike" spc="-1" dirty="0">
              <a:solidFill>
                <a:srgbClr val="000000"/>
              </a:solidFill>
              <a:latin typeface="Arial"/>
            </a:endParaRPr>
          </a:p>
        </p:txBody>
      </p:sp>
      <p:pic>
        <p:nvPicPr>
          <p:cNvPr id="28" name="Picture 1"/>
          <p:cNvPicPr/>
          <p:nvPr/>
        </p:nvPicPr>
        <p:blipFill>
          <a:blip r:embed="rId2"/>
          <a:stretch/>
        </p:blipFill>
        <p:spPr>
          <a:xfrm>
            <a:off x="1424160" y="2201760"/>
            <a:ext cx="3566880" cy="4284720"/>
          </a:xfrm>
          <a:prstGeom prst="rect">
            <a:avLst/>
          </a:prstGeom>
          <a:ln w="0">
            <a:noFill/>
          </a:ln>
        </p:spPr>
      </p:pic>
      <p:pic>
        <p:nvPicPr>
          <p:cNvPr id="4" name="Picture 3">
            <a:extLst>
              <a:ext uri="{FF2B5EF4-FFF2-40B4-BE49-F238E27FC236}">
                <a16:creationId xmlns:a16="http://schemas.microsoft.com/office/drawing/2014/main" id="{D5709547-40F5-4DF7-853E-09F9016713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300" y="19288383"/>
            <a:ext cx="9099700" cy="4771767"/>
          </a:xfrm>
          <a:prstGeom prst="rect">
            <a:avLst/>
          </a:prstGeom>
        </p:spPr>
      </p:pic>
      <p:pic>
        <p:nvPicPr>
          <p:cNvPr id="10" name="Picture 9">
            <a:extLst>
              <a:ext uri="{FF2B5EF4-FFF2-40B4-BE49-F238E27FC236}">
                <a16:creationId xmlns:a16="http://schemas.microsoft.com/office/drawing/2014/main" id="{B09D7FA8-EA16-4E98-9AD9-D751C497FF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0300" y="25019120"/>
            <a:ext cx="9099700" cy="4744717"/>
          </a:xfrm>
          <a:prstGeom prst="rect">
            <a:avLst/>
          </a:prstGeom>
        </p:spPr>
      </p:pic>
      <p:pic>
        <p:nvPicPr>
          <p:cNvPr id="12" name="Picture 11">
            <a:extLst>
              <a:ext uri="{FF2B5EF4-FFF2-40B4-BE49-F238E27FC236}">
                <a16:creationId xmlns:a16="http://schemas.microsoft.com/office/drawing/2014/main" id="{817F2742-75DC-48B8-A848-D162D564D5E3}"/>
              </a:ext>
            </a:extLst>
          </p:cNvPr>
          <p:cNvPicPr>
            <a:picLocks noChangeAspect="1"/>
          </p:cNvPicPr>
          <p:nvPr/>
        </p:nvPicPr>
        <p:blipFill rotWithShape="1">
          <a:blip r:embed="rId5">
            <a:extLst>
              <a:ext uri="{28A0092B-C50C-407E-A947-70E740481C1C}">
                <a14:useLocalDpi xmlns:a14="http://schemas.microsoft.com/office/drawing/2010/main" val="0"/>
              </a:ext>
            </a:extLst>
          </a:blip>
          <a:srcRect l="12762" t="30286" r="15049" b="31857"/>
          <a:stretch/>
        </p:blipFill>
        <p:spPr>
          <a:xfrm>
            <a:off x="15427365" y="18011990"/>
            <a:ext cx="7219950" cy="5048250"/>
          </a:xfrm>
          <a:prstGeom prst="rect">
            <a:avLst/>
          </a:prstGeom>
        </p:spPr>
      </p:pic>
      <p:pic>
        <p:nvPicPr>
          <p:cNvPr id="15" name="Picture 14">
            <a:extLst>
              <a:ext uri="{FF2B5EF4-FFF2-40B4-BE49-F238E27FC236}">
                <a16:creationId xmlns:a16="http://schemas.microsoft.com/office/drawing/2014/main" id="{7499B5A2-3F41-414D-BCF5-CB2BFF22B1CB}"/>
              </a:ext>
            </a:extLst>
          </p:cNvPr>
          <p:cNvPicPr>
            <a:picLocks noChangeAspect="1"/>
          </p:cNvPicPr>
          <p:nvPr/>
        </p:nvPicPr>
        <p:blipFill rotWithShape="1">
          <a:blip r:embed="rId6">
            <a:extLst>
              <a:ext uri="{28A0092B-C50C-407E-A947-70E740481C1C}">
                <a14:useLocalDpi xmlns:a14="http://schemas.microsoft.com/office/drawing/2010/main" val="0"/>
              </a:ext>
            </a:extLst>
          </a:blip>
          <a:srcRect l="29000" t="31625" r="22834" b="31250"/>
          <a:stretch/>
        </p:blipFill>
        <p:spPr>
          <a:xfrm>
            <a:off x="16789440" y="12721811"/>
            <a:ext cx="4508460" cy="4633261"/>
          </a:xfrm>
          <a:prstGeom prst="rect">
            <a:avLst/>
          </a:prstGeom>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677</TotalTime>
  <Words>278</Words>
  <Application>Microsoft Office PowerPoint</Application>
  <PresentationFormat>Custom</PresentationFormat>
  <Paragraphs>87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Office</vt:lpstr>
      <vt:lpstr>Autonomous Maze Escape Robot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Maze Escape Robot</dc:title>
  <dc:creator>omar</dc:creator>
  <cp:lastModifiedBy>Omar Darweesh</cp:lastModifiedBy>
  <cp:revision>5</cp:revision>
  <dcterms:modified xsi:type="dcterms:W3CDTF">2026-05-21T06:40:00Z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2004-09-22T15:05:03Z</dcterms:created>
  <dc:creator>jsearigh</dc:creator>
  <dc:description/>
  <dc:language>en-US</dc:language>
  <cp:lastModifiedBy>Belal Sababha</cp:lastModifiedBy>
  <dcterms:modified xsi:type="dcterms:W3CDTF">2026-05-10T08:51:43Z</dcterms:modified>
  <cp:revision>67</cp:revision>
  <dc:subject/>
  <dc:title>Microelectronics…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D61B75E7A94B46C6A1851AACBB38BEA2</vt:lpwstr>
  </property>
  <property fmtid="{D5CDD505-2E9C-101B-9397-08002B2CF9AE}" pid="3" name="KSOProductBuildVer">
    <vt:lpwstr>1033-12.1.0.25862</vt:lpwstr>
  </property>
</Properties>
</file>